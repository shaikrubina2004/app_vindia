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641BFDB-96CB-4200-A57D-2CBC41FB10D6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EC1262-A0AE-4DB9-9FC5-656D824609F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365760" y="13716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7b1c1c"/>
                </a:solidFill>
                <a:latin typeface="Georgia"/>
                <a:ea typeface="Georgia"/>
              </a:rPr>
              <a:t>StructaFlow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65760" y="530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04040"/>
                </a:solidFill>
                <a:latin typeface="Calibri"/>
                <a:ea typeface="Calibri"/>
              </a:rPr>
              <a:t>Agile Gantt Chart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274320" y="841320"/>
            <a:ext cx="1691280" cy="219240"/>
          </a:xfrm>
          <a:prstGeom prst="rect">
            <a:avLst/>
          </a:prstGeom>
          <a:solidFill>
            <a:srgbClr val="f5c0c0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3"/>
          <p:cNvSpPr/>
          <p:nvPr/>
        </p:nvSpPr>
        <p:spPr>
          <a:xfrm>
            <a:off x="274320" y="841320"/>
            <a:ext cx="169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a1a2e"/>
                </a:solidFill>
                <a:latin typeface="Calibri"/>
                <a:ea typeface="Calibri"/>
              </a:rPr>
              <a:t>Month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1965960" y="841320"/>
            <a:ext cx="3306600" cy="219240"/>
          </a:xfrm>
          <a:prstGeom prst="rect">
            <a:avLst/>
          </a:prstGeom>
          <a:solidFill>
            <a:srgbClr val="f5c0c0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5"/>
          <p:cNvSpPr/>
          <p:nvPr/>
        </p:nvSpPr>
        <p:spPr>
          <a:xfrm>
            <a:off x="1965960" y="841320"/>
            <a:ext cx="3306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MARCH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5272920" y="841320"/>
            <a:ext cx="3306600" cy="219240"/>
          </a:xfrm>
          <a:prstGeom prst="rect">
            <a:avLst/>
          </a:prstGeom>
          <a:solidFill>
            <a:srgbClr val="f5c0c0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7"/>
          <p:cNvSpPr/>
          <p:nvPr/>
        </p:nvSpPr>
        <p:spPr>
          <a:xfrm>
            <a:off x="5272920" y="841320"/>
            <a:ext cx="3306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APRIL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8580240" y="841320"/>
            <a:ext cx="3306600" cy="219240"/>
          </a:xfrm>
          <a:prstGeom prst="rect">
            <a:avLst/>
          </a:prstGeom>
          <a:solidFill>
            <a:srgbClr val="f5c0c0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9"/>
          <p:cNvSpPr/>
          <p:nvPr/>
        </p:nvSpPr>
        <p:spPr>
          <a:xfrm>
            <a:off x="8580240" y="841320"/>
            <a:ext cx="3306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MAY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274320" y="1060560"/>
            <a:ext cx="1691280" cy="219240"/>
          </a:xfrm>
          <a:prstGeom prst="rect">
            <a:avLst/>
          </a:prstGeom>
          <a:solidFill>
            <a:srgbClr val="f5c0c0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11"/>
          <p:cNvSpPr/>
          <p:nvPr/>
        </p:nvSpPr>
        <p:spPr>
          <a:xfrm>
            <a:off x="274320" y="1060560"/>
            <a:ext cx="169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7b1c1c"/>
                </a:solidFill>
                <a:latin typeface="Calibri"/>
                <a:ea typeface="Calibri"/>
              </a:rPr>
              <a:t>PROCESS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196596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3"/>
          <p:cNvSpPr/>
          <p:nvPr/>
        </p:nvSpPr>
        <p:spPr>
          <a:xfrm>
            <a:off x="196596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1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279288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5"/>
          <p:cNvSpPr/>
          <p:nvPr/>
        </p:nvSpPr>
        <p:spPr>
          <a:xfrm>
            <a:off x="279288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2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361944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7"/>
          <p:cNvSpPr/>
          <p:nvPr/>
        </p:nvSpPr>
        <p:spPr>
          <a:xfrm>
            <a:off x="361944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3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444636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9"/>
          <p:cNvSpPr/>
          <p:nvPr/>
        </p:nvSpPr>
        <p:spPr>
          <a:xfrm>
            <a:off x="444636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4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62" name="Shape 20"/>
          <p:cNvSpPr/>
          <p:nvPr/>
        </p:nvSpPr>
        <p:spPr>
          <a:xfrm>
            <a:off x="527292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21"/>
          <p:cNvSpPr/>
          <p:nvPr/>
        </p:nvSpPr>
        <p:spPr>
          <a:xfrm>
            <a:off x="527292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1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64" name="Shape 22"/>
          <p:cNvSpPr/>
          <p:nvPr/>
        </p:nvSpPr>
        <p:spPr>
          <a:xfrm>
            <a:off x="609984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23"/>
          <p:cNvSpPr/>
          <p:nvPr/>
        </p:nvSpPr>
        <p:spPr>
          <a:xfrm>
            <a:off x="609984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2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66" name="Shape 24"/>
          <p:cNvSpPr/>
          <p:nvPr/>
        </p:nvSpPr>
        <p:spPr>
          <a:xfrm>
            <a:off x="692676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5"/>
          <p:cNvSpPr/>
          <p:nvPr/>
        </p:nvSpPr>
        <p:spPr>
          <a:xfrm>
            <a:off x="692676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3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68" name="Shape 26"/>
          <p:cNvSpPr/>
          <p:nvPr/>
        </p:nvSpPr>
        <p:spPr>
          <a:xfrm>
            <a:off x="775332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27"/>
          <p:cNvSpPr/>
          <p:nvPr/>
        </p:nvSpPr>
        <p:spPr>
          <a:xfrm>
            <a:off x="775332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4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70" name="Shape 28"/>
          <p:cNvSpPr/>
          <p:nvPr/>
        </p:nvSpPr>
        <p:spPr>
          <a:xfrm>
            <a:off x="858024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29"/>
          <p:cNvSpPr/>
          <p:nvPr/>
        </p:nvSpPr>
        <p:spPr>
          <a:xfrm>
            <a:off x="858024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1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72" name="Shape 30"/>
          <p:cNvSpPr/>
          <p:nvPr/>
        </p:nvSpPr>
        <p:spPr>
          <a:xfrm>
            <a:off x="940680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31"/>
          <p:cNvSpPr/>
          <p:nvPr/>
        </p:nvSpPr>
        <p:spPr>
          <a:xfrm>
            <a:off x="940680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2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74" name="Shape 32"/>
          <p:cNvSpPr/>
          <p:nvPr/>
        </p:nvSpPr>
        <p:spPr>
          <a:xfrm>
            <a:off x="1023372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33"/>
          <p:cNvSpPr/>
          <p:nvPr/>
        </p:nvSpPr>
        <p:spPr>
          <a:xfrm>
            <a:off x="1023372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3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76" name="Shape 34"/>
          <p:cNvSpPr/>
          <p:nvPr/>
        </p:nvSpPr>
        <p:spPr>
          <a:xfrm>
            <a:off x="11060280" y="1060560"/>
            <a:ext cx="826560" cy="21924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35"/>
          <p:cNvSpPr/>
          <p:nvPr/>
        </p:nvSpPr>
        <p:spPr>
          <a:xfrm>
            <a:off x="11060280" y="1060560"/>
            <a:ext cx="82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Week</a:t>
            </a:r>
            <a:endParaRPr b="0" lang="en-IN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5a1a1a"/>
                </a:solidFill>
                <a:latin typeface="Calibri"/>
                <a:ea typeface="Calibri"/>
              </a:rPr>
              <a:t>4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78" name="Shape 36"/>
          <p:cNvSpPr/>
          <p:nvPr/>
        </p:nvSpPr>
        <p:spPr>
          <a:xfrm>
            <a:off x="274320" y="1280160"/>
            <a:ext cx="169128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37"/>
          <p:cNvSpPr/>
          <p:nvPr/>
        </p:nvSpPr>
        <p:spPr>
          <a:xfrm>
            <a:off x="274320" y="128016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 </a:t>
            </a: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Discovery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80" name="Shape 38"/>
          <p:cNvSpPr/>
          <p:nvPr/>
        </p:nvSpPr>
        <p:spPr>
          <a:xfrm>
            <a:off x="196596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Shape 39"/>
          <p:cNvSpPr/>
          <p:nvPr/>
        </p:nvSpPr>
        <p:spPr>
          <a:xfrm>
            <a:off x="279288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40"/>
          <p:cNvSpPr/>
          <p:nvPr/>
        </p:nvSpPr>
        <p:spPr>
          <a:xfrm>
            <a:off x="361944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41"/>
          <p:cNvSpPr/>
          <p:nvPr/>
        </p:nvSpPr>
        <p:spPr>
          <a:xfrm>
            <a:off x="444636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42"/>
          <p:cNvSpPr/>
          <p:nvPr/>
        </p:nvSpPr>
        <p:spPr>
          <a:xfrm>
            <a:off x="527292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43"/>
          <p:cNvSpPr/>
          <p:nvPr/>
        </p:nvSpPr>
        <p:spPr>
          <a:xfrm>
            <a:off x="609984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44"/>
          <p:cNvSpPr/>
          <p:nvPr/>
        </p:nvSpPr>
        <p:spPr>
          <a:xfrm>
            <a:off x="692676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45"/>
          <p:cNvSpPr/>
          <p:nvPr/>
        </p:nvSpPr>
        <p:spPr>
          <a:xfrm>
            <a:off x="775332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46"/>
          <p:cNvSpPr/>
          <p:nvPr/>
        </p:nvSpPr>
        <p:spPr>
          <a:xfrm>
            <a:off x="858024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47"/>
          <p:cNvSpPr/>
          <p:nvPr/>
        </p:nvSpPr>
        <p:spPr>
          <a:xfrm>
            <a:off x="940680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48"/>
          <p:cNvSpPr/>
          <p:nvPr/>
        </p:nvSpPr>
        <p:spPr>
          <a:xfrm>
            <a:off x="1023372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49"/>
          <p:cNvSpPr/>
          <p:nvPr/>
        </p:nvSpPr>
        <p:spPr>
          <a:xfrm>
            <a:off x="11060280" y="128016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50"/>
          <p:cNvSpPr/>
          <p:nvPr/>
        </p:nvSpPr>
        <p:spPr>
          <a:xfrm>
            <a:off x="1965960" y="1280160"/>
            <a:ext cx="1653120" cy="182520"/>
          </a:xfrm>
          <a:prstGeom prst="rect">
            <a:avLst/>
          </a:prstGeom>
          <a:solidFill>
            <a:srgbClr val="7b1c1c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51"/>
          <p:cNvSpPr/>
          <p:nvPr/>
        </p:nvSpPr>
        <p:spPr>
          <a:xfrm>
            <a:off x="1965960" y="1280160"/>
            <a:ext cx="1653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f9d5d5"/>
                </a:solidFill>
                <a:latin typeface="Calibri"/>
                <a:ea typeface="Calibri"/>
              </a:rPr>
              <a:t>Sprint 1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94" name="Shape 52"/>
          <p:cNvSpPr/>
          <p:nvPr/>
        </p:nvSpPr>
        <p:spPr>
          <a:xfrm>
            <a:off x="274320" y="146304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53"/>
          <p:cNvSpPr/>
          <p:nvPr/>
        </p:nvSpPr>
        <p:spPr>
          <a:xfrm>
            <a:off x="274320" y="146304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Background Study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96" name="Shape 54"/>
          <p:cNvSpPr/>
          <p:nvPr/>
        </p:nvSpPr>
        <p:spPr>
          <a:xfrm>
            <a:off x="196596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55"/>
          <p:cNvSpPr/>
          <p:nvPr/>
        </p:nvSpPr>
        <p:spPr>
          <a:xfrm>
            <a:off x="279288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56"/>
          <p:cNvSpPr/>
          <p:nvPr/>
        </p:nvSpPr>
        <p:spPr>
          <a:xfrm>
            <a:off x="361944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57"/>
          <p:cNvSpPr/>
          <p:nvPr/>
        </p:nvSpPr>
        <p:spPr>
          <a:xfrm>
            <a:off x="444636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58"/>
          <p:cNvSpPr/>
          <p:nvPr/>
        </p:nvSpPr>
        <p:spPr>
          <a:xfrm>
            <a:off x="527292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59"/>
          <p:cNvSpPr/>
          <p:nvPr/>
        </p:nvSpPr>
        <p:spPr>
          <a:xfrm>
            <a:off x="609984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60"/>
          <p:cNvSpPr/>
          <p:nvPr/>
        </p:nvSpPr>
        <p:spPr>
          <a:xfrm>
            <a:off x="692676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61"/>
          <p:cNvSpPr/>
          <p:nvPr/>
        </p:nvSpPr>
        <p:spPr>
          <a:xfrm>
            <a:off x="775332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62"/>
          <p:cNvSpPr/>
          <p:nvPr/>
        </p:nvSpPr>
        <p:spPr>
          <a:xfrm>
            <a:off x="858024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63"/>
          <p:cNvSpPr/>
          <p:nvPr/>
        </p:nvSpPr>
        <p:spPr>
          <a:xfrm>
            <a:off x="940680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64"/>
          <p:cNvSpPr/>
          <p:nvPr/>
        </p:nvSpPr>
        <p:spPr>
          <a:xfrm>
            <a:off x="1023372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65"/>
          <p:cNvSpPr/>
          <p:nvPr/>
        </p:nvSpPr>
        <p:spPr>
          <a:xfrm>
            <a:off x="11060280" y="14630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66"/>
          <p:cNvSpPr/>
          <p:nvPr/>
        </p:nvSpPr>
        <p:spPr>
          <a:xfrm>
            <a:off x="1984320" y="150120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67"/>
          <p:cNvSpPr/>
          <p:nvPr/>
        </p:nvSpPr>
        <p:spPr>
          <a:xfrm>
            <a:off x="2810880" y="150120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68"/>
          <p:cNvSpPr/>
          <p:nvPr/>
        </p:nvSpPr>
        <p:spPr>
          <a:xfrm>
            <a:off x="274320" y="166428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69"/>
          <p:cNvSpPr/>
          <p:nvPr/>
        </p:nvSpPr>
        <p:spPr>
          <a:xfrm>
            <a:off x="274320" y="166428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Requirement Analysis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12" name="Shape 70"/>
          <p:cNvSpPr/>
          <p:nvPr/>
        </p:nvSpPr>
        <p:spPr>
          <a:xfrm>
            <a:off x="196596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71"/>
          <p:cNvSpPr/>
          <p:nvPr/>
        </p:nvSpPr>
        <p:spPr>
          <a:xfrm>
            <a:off x="279288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72"/>
          <p:cNvSpPr/>
          <p:nvPr/>
        </p:nvSpPr>
        <p:spPr>
          <a:xfrm>
            <a:off x="361944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Shape 73"/>
          <p:cNvSpPr/>
          <p:nvPr/>
        </p:nvSpPr>
        <p:spPr>
          <a:xfrm>
            <a:off x="444636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Shape 74"/>
          <p:cNvSpPr/>
          <p:nvPr/>
        </p:nvSpPr>
        <p:spPr>
          <a:xfrm>
            <a:off x="527292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75"/>
          <p:cNvSpPr/>
          <p:nvPr/>
        </p:nvSpPr>
        <p:spPr>
          <a:xfrm>
            <a:off x="609984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76"/>
          <p:cNvSpPr/>
          <p:nvPr/>
        </p:nvSpPr>
        <p:spPr>
          <a:xfrm>
            <a:off x="692676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77"/>
          <p:cNvSpPr/>
          <p:nvPr/>
        </p:nvSpPr>
        <p:spPr>
          <a:xfrm>
            <a:off x="775332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hape 78"/>
          <p:cNvSpPr/>
          <p:nvPr/>
        </p:nvSpPr>
        <p:spPr>
          <a:xfrm>
            <a:off x="858024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79"/>
          <p:cNvSpPr/>
          <p:nvPr/>
        </p:nvSpPr>
        <p:spPr>
          <a:xfrm>
            <a:off x="940680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80"/>
          <p:cNvSpPr/>
          <p:nvPr/>
        </p:nvSpPr>
        <p:spPr>
          <a:xfrm>
            <a:off x="1023372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81"/>
          <p:cNvSpPr/>
          <p:nvPr/>
        </p:nvSpPr>
        <p:spPr>
          <a:xfrm>
            <a:off x="11060280" y="1664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82"/>
          <p:cNvSpPr/>
          <p:nvPr/>
        </p:nvSpPr>
        <p:spPr>
          <a:xfrm>
            <a:off x="2810880" y="170244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83"/>
          <p:cNvSpPr/>
          <p:nvPr/>
        </p:nvSpPr>
        <p:spPr>
          <a:xfrm>
            <a:off x="3637800" y="170244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84"/>
          <p:cNvSpPr/>
          <p:nvPr/>
        </p:nvSpPr>
        <p:spPr>
          <a:xfrm>
            <a:off x="274320" y="186552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85"/>
          <p:cNvSpPr/>
          <p:nvPr/>
        </p:nvSpPr>
        <p:spPr>
          <a:xfrm>
            <a:off x="274320" y="186552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Review &amp; Demo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28" name="Shape 86"/>
          <p:cNvSpPr/>
          <p:nvPr/>
        </p:nvSpPr>
        <p:spPr>
          <a:xfrm>
            <a:off x="196596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87"/>
          <p:cNvSpPr/>
          <p:nvPr/>
        </p:nvSpPr>
        <p:spPr>
          <a:xfrm>
            <a:off x="279288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88"/>
          <p:cNvSpPr/>
          <p:nvPr/>
        </p:nvSpPr>
        <p:spPr>
          <a:xfrm>
            <a:off x="361944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Shape 89"/>
          <p:cNvSpPr/>
          <p:nvPr/>
        </p:nvSpPr>
        <p:spPr>
          <a:xfrm>
            <a:off x="444636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90"/>
          <p:cNvSpPr/>
          <p:nvPr/>
        </p:nvSpPr>
        <p:spPr>
          <a:xfrm>
            <a:off x="527292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91"/>
          <p:cNvSpPr/>
          <p:nvPr/>
        </p:nvSpPr>
        <p:spPr>
          <a:xfrm>
            <a:off x="609984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92"/>
          <p:cNvSpPr/>
          <p:nvPr/>
        </p:nvSpPr>
        <p:spPr>
          <a:xfrm>
            <a:off x="692676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93"/>
          <p:cNvSpPr/>
          <p:nvPr/>
        </p:nvSpPr>
        <p:spPr>
          <a:xfrm>
            <a:off x="775332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94"/>
          <p:cNvSpPr/>
          <p:nvPr/>
        </p:nvSpPr>
        <p:spPr>
          <a:xfrm>
            <a:off x="858024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95"/>
          <p:cNvSpPr/>
          <p:nvPr/>
        </p:nvSpPr>
        <p:spPr>
          <a:xfrm>
            <a:off x="940680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96"/>
          <p:cNvSpPr/>
          <p:nvPr/>
        </p:nvSpPr>
        <p:spPr>
          <a:xfrm>
            <a:off x="1023372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Shape 97"/>
          <p:cNvSpPr/>
          <p:nvPr/>
        </p:nvSpPr>
        <p:spPr>
          <a:xfrm>
            <a:off x="11060280" y="1865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98"/>
          <p:cNvSpPr/>
          <p:nvPr/>
        </p:nvSpPr>
        <p:spPr>
          <a:xfrm>
            <a:off x="3637800" y="1903680"/>
            <a:ext cx="789840" cy="1242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99"/>
          <p:cNvSpPr/>
          <p:nvPr/>
        </p:nvSpPr>
        <p:spPr>
          <a:xfrm>
            <a:off x="274320" y="2066400"/>
            <a:ext cx="169128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00"/>
          <p:cNvSpPr/>
          <p:nvPr/>
        </p:nvSpPr>
        <p:spPr>
          <a:xfrm>
            <a:off x="274320" y="2066400"/>
            <a:ext cx="1691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User Feedback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43" name="Shape 101"/>
          <p:cNvSpPr/>
          <p:nvPr/>
        </p:nvSpPr>
        <p:spPr>
          <a:xfrm>
            <a:off x="196596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102"/>
          <p:cNvSpPr/>
          <p:nvPr/>
        </p:nvSpPr>
        <p:spPr>
          <a:xfrm>
            <a:off x="279288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103"/>
          <p:cNvSpPr/>
          <p:nvPr/>
        </p:nvSpPr>
        <p:spPr>
          <a:xfrm>
            <a:off x="361944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104"/>
          <p:cNvSpPr/>
          <p:nvPr/>
        </p:nvSpPr>
        <p:spPr>
          <a:xfrm>
            <a:off x="444636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Shape 105"/>
          <p:cNvSpPr/>
          <p:nvPr/>
        </p:nvSpPr>
        <p:spPr>
          <a:xfrm>
            <a:off x="527292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106"/>
          <p:cNvSpPr/>
          <p:nvPr/>
        </p:nvSpPr>
        <p:spPr>
          <a:xfrm>
            <a:off x="609984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107"/>
          <p:cNvSpPr/>
          <p:nvPr/>
        </p:nvSpPr>
        <p:spPr>
          <a:xfrm>
            <a:off x="692676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108"/>
          <p:cNvSpPr/>
          <p:nvPr/>
        </p:nvSpPr>
        <p:spPr>
          <a:xfrm>
            <a:off x="775332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109"/>
          <p:cNvSpPr/>
          <p:nvPr/>
        </p:nvSpPr>
        <p:spPr>
          <a:xfrm>
            <a:off x="858024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110"/>
          <p:cNvSpPr/>
          <p:nvPr/>
        </p:nvSpPr>
        <p:spPr>
          <a:xfrm>
            <a:off x="940680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111"/>
          <p:cNvSpPr/>
          <p:nvPr/>
        </p:nvSpPr>
        <p:spPr>
          <a:xfrm>
            <a:off x="1023372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112"/>
          <p:cNvSpPr/>
          <p:nvPr/>
        </p:nvSpPr>
        <p:spPr>
          <a:xfrm>
            <a:off x="11060280" y="206640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13"/>
          <p:cNvSpPr/>
          <p:nvPr/>
        </p:nvSpPr>
        <p:spPr>
          <a:xfrm>
            <a:off x="3637800" y="209952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114"/>
          <p:cNvSpPr/>
          <p:nvPr/>
        </p:nvSpPr>
        <p:spPr>
          <a:xfrm>
            <a:off x="4464720" y="209952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115"/>
          <p:cNvSpPr/>
          <p:nvPr/>
        </p:nvSpPr>
        <p:spPr>
          <a:xfrm>
            <a:off x="274320" y="2240280"/>
            <a:ext cx="169128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16"/>
          <p:cNvSpPr/>
          <p:nvPr/>
        </p:nvSpPr>
        <p:spPr>
          <a:xfrm>
            <a:off x="274320" y="224028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 </a:t>
            </a: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Design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59" name="Shape 117"/>
          <p:cNvSpPr/>
          <p:nvPr/>
        </p:nvSpPr>
        <p:spPr>
          <a:xfrm>
            <a:off x="196596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118"/>
          <p:cNvSpPr/>
          <p:nvPr/>
        </p:nvSpPr>
        <p:spPr>
          <a:xfrm>
            <a:off x="279288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19"/>
          <p:cNvSpPr/>
          <p:nvPr/>
        </p:nvSpPr>
        <p:spPr>
          <a:xfrm>
            <a:off x="361944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120"/>
          <p:cNvSpPr/>
          <p:nvPr/>
        </p:nvSpPr>
        <p:spPr>
          <a:xfrm>
            <a:off x="444636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121"/>
          <p:cNvSpPr/>
          <p:nvPr/>
        </p:nvSpPr>
        <p:spPr>
          <a:xfrm>
            <a:off x="527292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Shape 122"/>
          <p:cNvSpPr/>
          <p:nvPr/>
        </p:nvSpPr>
        <p:spPr>
          <a:xfrm>
            <a:off x="609984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123"/>
          <p:cNvSpPr/>
          <p:nvPr/>
        </p:nvSpPr>
        <p:spPr>
          <a:xfrm>
            <a:off x="692676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24"/>
          <p:cNvSpPr/>
          <p:nvPr/>
        </p:nvSpPr>
        <p:spPr>
          <a:xfrm>
            <a:off x="775332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125"/>
          <p:cNvSpPr/>
          <p:nvPr/>
        </p:nvSpPr>
        <p:spPr>
          <a:xfrm>
            <a:off x="858024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126"/>
          <p:cNvSpPr/>
          <p:nvPr/>
        </p:nvSpPr>
        <p:spPr>
          <a:xfrm>
            <a:off x="940680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27"/>
          <p:cNvSpPr/>
          <p:nvPr/>
        </p:nvSpPr>
        <p:spPr>
          <a:xfrm>
            <a:off x="1023372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28"/>
          <p:cNvSpPr/>
          <p:nvPr/>
        </p:nvSpPr>
        <p:spPr>
          <a:xfrm>
            <a:off x="11060280" y="224028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129"/>
          <p:cNvSpPr/>
          <p:nvPr/>
        </p:nvSpPr>
        <p:spPr>
          <a:xfrm>
            <a:off x="4446360" y="2240280"/>
            <a:ext cx="1653120" cy="182520"/>
          </a:xfrm>
          <a:prstGeom prst="rect">
            <a:avLst/>
          </a:prstGeom>
          <a:solidFill>
            <a:srgbClr val="7b1c1c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30"/>
          <p:cNvSpPr/>
          <p:nvPr/>
        </p:nvSpPr>
        <p:spPr>
          <a:xfrm>
            <a:off x="4446360" y="2240280"/>
            <a:ext cx="1653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f9d5d5"/>
                </a:solidFill>
                <a:latin typeface="Calibri"/>
                <a:ea typeface="Calibri"/>
              </a:rPr>
              <a:t>Sprint 2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173" name="Shape 131"/>
          <p:cNvSpPr/>
          <p:nvPr/>
        </p:nvSpPr>
        <p:spPr>
          <a:xfrm>
            <a:off x="274320" y="242316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32"/>
          <p:cNvSpPr/>
          <p:nvPr/>
        </p:nvSpPr>
        <p:spPr>
          <a:xfrm>
            <a:off x="274320" y="242316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Requirement Specification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75" name="Shape 133"/>
          <p:cNvSpPr/>
          <p:nvPr/>
        </p:nvSpPr>
        <p:spPr>
          <a:xfrm>
            <a:off x="196596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134"/>
          <p:cNvSpPr/>
          <p:nvPr/>
        </p:nvSpPr>
        <p:spPr>
          <a:xfrm>
            <a:off x="279288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135"/>
          <p:cNvSpPr/>
          <p:nvPr/>
        </p:nvSpPr>
        <p:spPr>
          <a:xfrm>
            <a:off x="361944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36"/>
          <p:cNvSpPr/>
          <p:nvPr/>
        </p:nvSpPr>
        <p:spPr>
          <a:xfrm>
            <a:off x="444636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137"/>
          <p:cNvSpPr/>
          <p:nvPr/>
        </p:nvSpPr>
        <p:spPr>
          <a:xfrm>
            <a:off x="527292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138"/>
          <p:cNvSpPr/>
          <p:nvPr/>
        </p:nvSpPr>
        <p:spPr>
          <a:xfrm>
            <a:off x="609984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139"/>
          <p:cNvSpPr/>
          <p:nvPr/>
        </p:nvSpPr>
        <p:spPr>
          <a:xfrm>
            <a:off x="692676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140"/>
          <p:cNvSpPr/>
          <p:nvPr/>
        </p:nvSpPr>
        <p:spPr>
          <a:xfrm>
            <a:off x="775332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41"/>
          <p:cNvSpPr/>
          <p:nvPr/>
        </p:nvSpPr>
        <p:spPr>
          <a:xfrm>
            <a:off x="858024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142"/>
          <p:cNvSpPr/>
          <p:nvPr/>
        </p:nvSpPr>
        <p:spPr>
          <a:xfrm>
            <a:off x="940680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143"/>
          <p:cNvSpPr/>
          <p:nvPr/>
        </p:nvSpPr>
        <p:spPr>
          <a:xfrm>
            <a:off x="1023372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144"/>
          <p:cNvSpPr/>
          <p:nvPr/>
        </p:nvSpPr>
        <p:spPr>
          <a:xfrm>
            <a:off x="11060280" y="24231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145"/>
          <p:cNvSpPr/>
          <p:nvPr/>
        </p:nvSpPr>
        <p:spPr>
          <a:xfrm>
            <a:off x="4464720" y="246132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146"/>
          <p:cNvSpPr/>
          <p:nvPr/>
        </p:nvSpPr>
        <p:spPr>
          <a:xfrm>
            <a:off x="5291280" y="246132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147"/>
          <p:cNvSpPr/>
          <p:nvPr/>
        </p:nvSpPr>
        <p:spPr>
          <a:xfrm>
            <a:off x="274320" y="262440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48"/>
          <p:cNvSpPr/>
          <p:nvPr/>
        </p:nvSpPr>
        <p:spPr>
          <a:xfrm>
            <a:off x="274320" y="262440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System &amp; UI Design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91" name="Shape 149"/>
          <p:cNvSpPr/>
          <p:nvPr/>
        </p:nvSpPr>
        <p:spPr>
          <a:xfrm>
            <a:off x="196596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50"/>
          <p:cNvSpPr/>
          <p:nvPr/>
        </p:nvSpPr>
        <p:spPr>
          <a:xfrm>
            <a:off x="279288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Shape 151"/>
          <p:cNvSpPr/>
          <p:nvPr/>
        </p:nvSpPr>
        <p:spPr>
          <a:xfrm>
            <a:off x="361944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Shape 152"/>
          <p:cNvSpPr/>
          <p:nvPr/>
        </p:nvSpPr>
        <p:spPr>
          <a:xfrm>
            <a:off x="444636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53"/>
          <p:cNvSpPr/>
          <p:nvPr/>
        </p:nvSpPr>
        <p:spPr>
          <a:xfrm>
            <a:off x="527292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54"/>
          <p:cNvSpPr/>
          <p:nvPr/>
        </p:nvSpPr>
        <p:spPr>
          <a:xfrm>
            <a:off x="609984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55"/>
          <p:cNvSpPr/>
          <p:nvPr/>
        </p:nvSpPr>
        <p:spPr>
          <a:xfrm>
            <a:off x="692676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156"/>
          <p:cNvSpPr/>
          <p:nvPr/>
        </p:nvSpPr>
        <p:spPr>
          <a:xfrm>
            <a:off x="775332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57"/>
          <p:cNvSpPr/>
          <p:nvPr/>
        </p:nvSpPr>
        <p:spPr>
          <a:xfrm>
            <a:off x="858024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158"/>
          <p:cNvSpPr/>
          <p:nvPr/>
        </p:nvSpPr>
        <p:spPr>
          <a:xfrm>
            <a:off x="940680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Shape 159"/>
          <p:cNvSpPr/>
          <p:nvPr/>
        </p:nvSpPr>
        <p:spPr>
          <a:xfrm>
            <a:off x="1023372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160"/>
          <p:cNvSpPr/>
          <p:nvPr/>
        </p:nvSpPr>
        <p:spPr>
          <a:xfrm>
            <a:off x="11060280" y="2624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161"/>
          <p:cNvSpPr/>
          <p:nvPr/>
        </p:nvSpPr>
        <p:spPr>
          <a:xfrm>
            <a:off x="5291280" y="266256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162"/>
          <p:cNvSpPr/>
          <p:nvPr/>
        </p:nvSpPr>
        <p:spPr>
          <a:xfrm>
            <a:off x="274320" y="282564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63"/>
          <p:cNvSpPr/>
          <p:nvPr/>
        </p:nvSpPr>
        <p:spPr>
          <a:xfrm>
            <a:off x="274320" y="282564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Review &amp; Demo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06" name="Shape 164"/>
          <p:cNvSpPr/>
          <p:nvPr/>
        </p:nvSpPr>
        <p:spPr>
          <a:xfrm>
            <a:off x="196596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165"/>
          <p:cNvSpPr/>
          <p:nvPr/>
        </p:nvSpPr>
        <p:spPr>
          <a:xfrm>
            <a:off x="279288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166"/>
          <p:cNvSpPr/>
          <p:nvPr/>
        </p:nvSpPr>
        <p:spPr>
          <a:xfrm>
            <a:off x="361944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Shape 167"/>
          <p:cNvSpPr/>
          <p:nvPr/>
        </p:nvSpPr>
        <p:spPr>
          <a:xfrm>
            <a:off x="444636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168"/>
          <p:cNvSpPr/>
          <p:nvPr/>
        </p:nvSpPr>
        <p:spPr>
          <a:xfrm>
            <a:off x="527292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169"/>
          <p:cNvSpPr/>
          <p:nvPr/>
        </p:nvSpPr>
        <p:spPr>
          <a:xfrm>
            <a:off x="609984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170"/>
          <p:cNvSpPr/>
          <p:nvPr/>
        </p:nvSpPr>
        <p:spPr>
          <a:xfrm>
            <a:off x="692676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171"/>
          <p:cNvSpPr/>
          <p:nvPr/>
        </p:nvSpPr>
        <p:spPr>
          <a:xfrm>
            <a:off x="775332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172"/>
          <p:cNvSpPr/>
          <p:nvPr/>
        </p:nvSpPr>
        <p:spPr>
          <a:xfrm>
            <a:off x="858024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73"/>
          <p:cNvSpPr/>
          <p:nvPr/>
        </p:nvSpPr>
        <p:spPr>
          <a:xfrm>
            <a:off x="940680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174"/>
          <p:cNvSpPr/>
          <p:nvPr/>
        </p:nvSpPr>
        <p:spPr>
          <a:xfrm>
            <a:off x="1023372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175"/>
          <p:cNvSpPr/>
          <p:nvPr/>
        </p:nvSpPr>
        <p:spPr>
          <a:xfrm>
            <a:off x="11060280" y="2825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Shape 176"/>
          <p:cNvSpPr/>
          <p:nvPr/>
        </p:nvSpPr>
        <p:spPr>
          <a:xfrm>
            <a:off x="5291280" y="2863800"/>
            <a:ext cx="789840" cy="1242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177"/>
          <p:cNvSpPr/>
          <p:nvPr/>
        </p:nvSpPr>
        <p:spPr>
          <a:xfrm>
            <a:off x="274320" y="3026520"/>
            <a:ext cx="169128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78"/>
          <p:cNvSpPr/>
          <p:nvPr/>
        </p:nvSpPr>
        <p:spPr>
          <a:xfrm>
            <a:off x="274320" y="3026520"/>
            <a:ext cx="1691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User Feedback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21" name="Shape 179"/>
          <p:cNvSpPr/>
          <p:nvPr/>
        </p:nvSpPr>
        <p:spPr>
          <a:xfrm>
            <a:off x="196596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Shape 180"/>
          <p:cNvSpPr/>
          <p:nvPr/>
        </p:nvSpPr>
        <p:spPr>
          <a:xfrm>
            <a:off x="279288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181"/>
          <p:cNvSpPr/>
          <p:nvPr/>
        </p:nvSpPr>
        <p:spPr>
          <a:xfrm>
            <a:off x="361944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Shape 182"/>
          <p:cNvSpPr/>
          <p:nvPr/>
        </p:nvSpPr>
        <p:spPr>
          <a:xfrm>
            <a:off x="444636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Shape 183"/>
          <p:cNvSpPr/>
          <p:nvPr/>
        </p:nvSpPr>
        <p:spPr>
          <a:xfrm>
            <a:off x="527292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84"/>
          <p:cNvSpPr/>
          <p:nvPr/>
        </p:nvSpPr>
        <p:spPr>
          <a:xfrm>
            <a:off x="609984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85"/>
          <p:cNvSpPr/>
          <p:nvPr/>
        </p:nvSpPr>
        <p:spPr>
          <a:xfrm>
            <a:off x="692676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Shape 186"/>
          <p:cNvSpPr/>
          <p:nvPr/>
        </p:nvSpPr>
        <p:spPr>
          <a:xfrm>
            <a:off x="775332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187"/>
          <p:cNvSpPr/>
          <p:nvPr/>
        </p:nvSpPr>
        <p:spPr>
          <a:xfrm>
            <a:off x="858024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88"/>
          <p:cNvSpPr/>
          <p:nvPr/>
        </p:nvSpPr>
        <p:spPr>
          <a:xfrm>
            <a:off x="940680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189"/>
          <p:cNvSpPr/>
          <p:nvPr/>
        </p:nvSpPr>
        <p:spPr>
          <a:xfrm>
            <a:off x="1023372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Shape 190"/>
          <p:cNvSpPr/>
          <p:nvPr/>
        </p:nvSpPr>
        <p:spPr>
          <a:xfrm>
            <a:off x="11060280" y="302652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91"/>
          <p:cNvSpPr/>
          <p:nvPr/>
        </p:nvSpPr>
        <p:spPr>
          <a:xfrm>
            <a:off x="5291280" y="305964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Shape 192"/>
          <p:cNvSpPr/>
          <p:nvPr/>
        </p:nvSpPr>
        <p:spPr>
          <a:xfrm>
            <a:off x="6118200" y="305964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Shape 193"/>
          <p:cNvSpPr/>
          <p:nvPr/>
        </p:nvSpPr>
        <p:spPr>
          <a:xfrm>
            <a:off x="274320" y="3200400"/>
            <a:ext cx="169128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94"/>
          <p:cNvSpPr/>
          <p:nvPr/>
        </p:nvSpPr>
        <p:spPr>
          <a:xfrm>
            <a:off x="274320" y="320040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 </a:t>
            </a: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Front-end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37" name="Shape 195"/>
          <p:cNvSpPr/>
          <p:nvPr/>
        </p:nvSpPr>
        <p:spPr>
          <a:xfrm>
            <a:off x="196596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96"/>
          <p:cNvSpPr/>
          <p:nvPr/>
        </p:nvSpPr>
        <p:spPr>
          <a:xfrm>
            <a:off x="279288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197"/>
          <p:cNvSpPr/>
          <p:nvPr/>
        </p:nvSpPr>
        <p:spPr>
          <a:xfrm>
            <a:off x="361944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198"/>
          <p:cNvSpPr/>
          <p:nvPr/>
        </p:nvSpPr>
        <p:spPr>
          <a:xfrm>
            <a:off x="444636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199"/>
          <p:cNvSpPr/>
          <p:nvPr/>
        </p:nvSpPr>
        <p:spPr>
          <a:xfrm>
            <a:off x="527292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200"/>
          <p:cNvSpPr/>
          <p:nvPr/>
        </p:nvSpPr>
        <p:spPr>
          <a:xfrm>
            <a:off x="609984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201"/>
          <p:cNvSpPr/>
          <p:nvPr/>
        </p:nvSpPr>
        <p:spPr>
          <a:xfrm>
            <a:off x="692676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202"/>
          <p:cNvSpPr/>
          <p:nvPr/>
        </p:nvSpPr>
        <p:spPr>
          <a:xfrm>
            <a:off x="775332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203"/>
          <p:cNvSpPr/>
          <p:nvPr/>
        </p:nvSpPr>
        <p:spPr>
          <a:xfrm>
            <a:off x="858024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204"/>
          <p:cNvSpPr/>
          <p:nvPr/>
        </p:nvSpPr>
        <p:spPr>
          <a:xfrm>
            <a:off x="940680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205"/>
          <p:cNvSpPr/>
          <p:nvPr/>
        </p:nvSpPr>
        <p:spPr>
          <a:xfrm>
            <a:off x="1023372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206"/>
          <p:cNvSpPr/>
          <p:nvPr/>
        </p:nvSpPr>
        <p:spPr>
          <a:xfrm>
            <a:off x="11060280" y="320040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207"/>
          <p:cNvSpPr/>
          <p:nvPr/>
        </p:nvSpPr>
        <p:spPr>
          <a:xfrm>
            <a:off x="6099840" y="3200400"/>
            <a:ext cx="1653120" cy="182520"/>
          </a:xfrm>
          <a:prstGeom prst="rect">
            <a:avLst/>
          </a:prstGeom>
          <a:solidFill>
            <a:srgbClr val="7b1c1c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08"/>
          <p:cNvSpPr/>
          <p:nvPr/>
        </p:nvSpPr>
        <p:spPr>
          <a:xfrm>
            <a:off x="6099840" y="3200400"/>
            <a:ext cx="1653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f9d5d5"/>
                </a:solidFill>
                <a:latin typeface="Calibri"/>
                <a:ea typeface="Calibri"/>
              </a:rPr>
              <a:t>Sprint 3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251" name="Shape 209"/>
          <p:cNvSpPr/>
          <p:nvPr/>
        </p:nvSpPr>
        <p:spPr>
          <a:xfrm>
            <a:off x="274320" y="338328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210"/>
          <p:cNvSpPr/>
          <p:nvPr/>
        </p:nvSpPr>
        <p:spPr>
          <a:xfrm>
            <a:off x="274320" y="338328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Front-end Development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53" name="Shape 211"/>
          <p:cNvSpPr/>
          <p:nvPr/>
        </p:nvSpPr>
        <p:spPr>
          <a:xfrm>
            <a:off x="196596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212"/>
          <p:cNvSpPr/>
          <p:nvPr/>
        </p:nvSpPr>
        <p:spPr>
          <a:xfrm>
            <a:off x="279288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Shape 213"/>
          <p:cNvSpPr/>
          <p:nvPr/>
        </p:nvSpPr>
        <p:spPr>
          <a:xfrm>
            <a:off x="361944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Shape 214"/>
          <p:cNvSpPr/>
          <p:nvPr/>
        </p:nvSpPr>
        <p:spPr>
          <a:xfrm>
            <a:off x="444636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Shape 215"/>
          <p:cNvSpPr/>
          <p:nvPr/>
        </p:nvSpPr>
        <p:spPr>
          <a:xfrm>
            <a:off x="527292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Shape 216"/>
          <p:cNvSpPr/>
          <p:nvPr/>
        </p:nvSpPr>
        <p:spPr>
          <a:xfrm>
            <a:off x="609984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217"/>
          <p:cNvSpPr/>
          <p:nvPr/>
        </p:nvSpPr>
        <p:spPr>
          <a:xfrm>
            <a:off x="692676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218"/>
          <p:cNvSpPr/>
          <p:nvPr/>
        </p:nvSpPr>
        <p:spPr>
          <a:xfrm>
            <a:off x="775332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219"/>
          <p:cNvSpPr/>
          <p:nvPr/>
        </p:nvSpPr>
        <p:spPr>
          <a:xfrm>
            <a:off x="858024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Shape 220"/>
          <p:cNvSpPr/>
          <p:nvPr/>
        </p:nvSpPr>
        <p:spPr>
          <a:xfrm>
            <a:off x="940680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Shape 221"/>
          <p:cNvSpPr/>
          <p:nvPr/>
        </p:nvSpPr>
        <p:spPr>
          <a:xfrm>
            <a:off x="1023372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Shape 222"/>
          <p:cNvSpPr/>
          <p:nvPr/>
        </p:nvSpPr>
        <p:spPr>
          <a:xfrm>
            <a:off x="11060280" y="33832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223"/>
          <p:cNvSpPr/>
          <p:nvPr/>
        </p:nvSpPr>
        <p:spPr>
          <a:xfrm>
            <a:off x="6118200" y="342144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Shape 224"/>
          <p:cNvSpPr/>
          <p:nvPr/>
        </p:nvSpPr>
        <p:spPr>
          <a:xfrm>
            <a:off x="6944760" y="342144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225"/>
          <p:cNvSpPr/>
          <p:nvPr/>
        </p:nvSpPr>
        <p:spPr>
          <a:xfrm>
            <a:off x="274320" y="358452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226"/>
          <p:cNvSpPr/>
          <p:nvPr/>
        </p:nvSpPr>
        <p:spPr>
          <a:xfrm>
            <a:off x="274320" y="358452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Testing (Frontend)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69" name="Shape 227"/>
          <p:cNvSpPr/>
          <p:nvPr/>
        </p:nvSpPr>
        <p:spPr>
          <a:xfrm>
            <a:off x="196596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Shape 228"/>
          <p:cNvSpPr/>
          <p:nvPr/>
        </p:nvSpPr>
        <p:spPr>
          <a:xfrm>
            <a:off x="279288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229"/>
          <p:cNvSpPr/>
          <p:nvPr/>
        </p:nvSpPr>
        <p:spPr>
          <a:xfrm>
            <a:off x="361944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Shape 230"/>
          <p:cNvSpPr/>
          <p:nvPr/>
        </p:nvSpPr>
        <p:spPr>
          <a:xfrm>
            <a:off x="444636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231"/>
          <p:cNvSpPr/>
          <p:nvPr/>
        </p:nvSpPr>
        <p:spPr>
          <a:xfrm>
            <a:off x="527292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Shape 232"/>
          <p:cNvSpPr/>
          <p:nvPr/>
        </p:nvSpPr>
        <p:spPr>
          <a:xfrm>
            <a:off x="609984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233"/>
          <p:cNvSpPr/>
          <p:nvPr/>
        </p:nvSpPr>
        <p:spPr>
          <a:xfrm>
            <a:off x="692676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Shape 234"/>
          <p:cNvSpPr/>
          <p:nvPr/>
        </p:nvSpPr>
        <p:spPr>
          <a:xfrm>
            <a:off x="775332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235"/>
          <p:cNvSpPr/>
          <p:nvPr/>
        </p:nvSpPr>
        <p:spPr>
          <a:xfrm>
            <a:off x="858024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236"/>
          <p:cNvSpPr/>
          <p:nvPr/>
        </p:nvSpPr>
        <p:spPr>
          <a:xfrm>
            <a:off x="940680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237"/>
          <p:cNvSpPr/>
          <p:nvPr/>
        </p:nvSpPr>
        <p:spPr>
          <a:xfrm>
            <a:off x="1023372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238"/>
          <p:cNvSpPr/>
          <p:nvPr/>
        </p:nvSpPr>
        <p:spPr>
          <a:xfrm>
            <a:off x="11060280" y="3584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239"/>
          <p:cNvSpPr/>
          <p:nvPr/>
        </p:nvSpPr>
        <p:spPr>
          <a:xfrm>
            <a:off x="6944760" y="362268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240"/>
          <p:cNvSpPr/>
          <p:nvPr/>
        </p:nvSpPr>
        <p:spPr>
          <a:xfrm>
            <a:off x="274320" y="378576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241"/>
          <p:cNvSpPr/>
          <p:nvPr/>
        </p:nvSpPr>
        <p:spPr>
          <a:xfrm>
            <a:off x="274320" y="378576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Review &amp; Demo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84" name="Shape 242"/>
          <p:cNvSpPr/>
          <p:nvPr/>
        </p:nvSpPr>
        <p:spPr>
          <a:xfrm>
            <a:off x="196596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243"/>
          <p:cNvSpPr/>
          <p:nvPr/>
        </p:nvSpPr>
        <p:spPr>
          <a:xfrm>
            <a:off x="279288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244"/>
          <p:cNvSpPr/>
          <p:nvPr/>
        </p:nvSpPr>
        <p:spPr>
          <a:xfrm>
            <a:off x="361944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245"/>
          <p:cNvSpPr/>
          <p:nvPr/>
        </p:nvSpPr>
        <p:spPr>
          <a:xfrm>
            <a:off x="444636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246"/>
          <p:cNvSpPr/>
          <p:nvPr/>
        </p:nvSpPr>
        <p:spPr>
          <a:xfrm>
            <a:off x="527292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247"/>
          <p:cNvSpPr/>
          <p:nvPr/>
        </p:nvSpPr>
        <p:spPr>
          <a:xfrm>
            <a:off x="609984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248"/>
          <p:cNvSpPr/>
          <p:nvPr/>
        </p:nvSpPr>
        <p:spPr>
          <a:xfrm>
            <a:off x="692676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249"/>
          <p:cNvSpPr/>
          <p:nvPr/>
        </p:nvSpPr>
        <p:spPr>
          <a:xfrm>
            <a:off x="775332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250"/>
          <p:cNvSpPr/>
          <p:nvPr/>
        </p:nvSpPr>
        <p:spPr>
          <a:xfrm>
            <a:off x="858024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251"/>
          <p:cNvSpPr/>
          <p:nvPr/>
        </p:nvSpPr>
        <p:spPr>
          <a:xfrm>
            <a:off x="940680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Shape 252"/>
          <p:cNvSpPr/>
          <p:nvPr/>
        </p:nvSpPr>
        <p:spPr>
          <a:xfrm>
            <a:off x="1023372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253"/>
          <p:cNvSpPr/>
          <p:nvPr/>
        </p:nvSpPr>
        <p:spPr>
          <a:xfrm>
            <a:off x="11060280" y="3785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254"/>
          <p:cNvSpPr/>
          <p:nvPr/>
        </p:nvSpPr>
        <p:spPr>
          <a:xfrm>
            <a:off x="6944760" y="3823920"/>
            <a:ext cx="789840" cy="1242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Shape 255"/>
          <p:cNvSpPr/>
          <p:nvPr/>
        </p:nvSpPr>
        <p:spPr>
          <a:xfrm>
            <a:off x="274320" y="3986640"/>
            <a:ext cx="169128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256"/>
          <p:cNvSpPr/>
          <p:nvPr/>
        </p:nvSpPr>
        <p:spPr>
          <a:xfrm>
            <a:off x="274320" y="3986640"/>
            <a:ext cx="1691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User Feedback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99" name="Shape 257"/>
          <p:cNvSpPr/>
          <p:nvPr/>
        </p:nvSpPr>
        <p:spPr>
          <a:xfrm>
            <a:off x="196596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Shape 258"/>
          <p:cNvSpPr/>
          <p:nvPr/>
        </p:nvSpPr>
        <p:spPr>
          <a:xfrm>
            <a:off x="279288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Shape 259"/>
          <p:cNvSpPr/>
          <p:nvPr/>
        </p:nvSpPr>
        <p:spPr>
          <a:xfrm>
            <a:off x="361944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260"/>
          <p:cNvSpPr/>
          <p:nvPr/>
        </p:nvSpPr>
        <p:spPr>
          <a:xfrm>
            <a:off x="444636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Shape 261"/>
          <p:cNvSpPr/>
          <p:nvPr/>
        </p:nvSpPr>
        <p:spPr>
          <a:xfrm>
            <a:off x="527292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Shape 262"/>
          <p:cNvSpPr/>
          <p:nvPr/>
        </p:nvSpPr>
        <p:spPr>
          <a:xfrm>
            <a:off x="609984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263"/>
          <p:cNvSpPr/>
          <p:nvPr/>
        </p:nvSpPr>
        <p:spPr>
          <a:xfrm>
            <a:off x="692676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264"/>
          <p:cNvSpPr/>
          <p:nvPr/>
        </p:nvSpPr>
        <p:spPr>
          <a:xfrm>
            <a:off x="775332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265"/>
          <p:cNvSpPr/>
          <p:nvPr/>
        </p:nvSpPr>
        <p:spPr>
          <a:xfrm>
            <a:off x="858024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266"/>
          <p:cNvSpPr/>
          <p:nvPr/>
        </p:nvSpPr>
        <p:spPr>
          <a:xfrm>
            <a:off x="940680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267"/>
          <p:cNvSpPr/>
          <p:nvPr/>
        </p:nvSpPr>
        <p:spPr>
          <a:xfrm>
            <a:off x="1023372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268"/>
          <p:cNvSpPr/>
          <p:nvPr/>
        </p:nvSpPr>
        <p:spPr>
          <a:xfrm>
            <a:off x="11060280" y="398664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269"/>
          <p:cNvSpPr/>
          <p:nvPr/>
        </p:nvSpPr>
        <p:spPr>
          <a:xfrm>
            <a:off x="6944760" y="401976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270"/>
          <p:cNvSpPr/>
          <p:nvPr/>
        </p:nvSpPr>
        <p:spPr>
          <a:xfrm>
            <a:off x="7771680" y="401976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271"/>
          <p:cNvSpPr/>
          <p:nvPr/>
        </p:nvSpPr>
        <p:spPr>
          <a:xfrm>
            <a:off x="274320" y="4160520"/>
            <a:ext cx="169128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272"/>
          <p:cNvSpPr/>
          <p:nvPr/>
        </p:nvSpPr>
        <p:spPr>
          <a:xfrm>
            <a:off x="274320" y="416052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 </a:t>
            </a: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Back-end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15" name="Shape 273"/>
          <p:cNvSpPr/>
          <p:nvPr/>
        </p:nvSpPr>
        <p:spPr>
          <a:xfrm>
            <a:off x="196596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274"/>
          <p:cNvSpPr/>
          <p:nvPr/>
        </p:nvSpPr>
        <p:spPr>
          <a:xfrm>
            <a:off x="279288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275"/>
          <p:cNvSpPr/>
          <p:nvPr/>
        </p:nvSpPr>
        <p:spPr>
          <a:xfrm>
            <a:off x="361944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Shape 276"/>
          <p:cNvSpPr/>
          <p:nvPr/>
        </p:nvSpPr>
        <p:spPr>
          <a:xfrm>
            <a:off x="444636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Shape 277"/>
          <p:cNvSpPr/>
          <p:nvPr/>
        </p:nvSpPr>
        <p:spPr>
          <a:xfrm>
            <a:off x="527292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278"/>
          <p:cNvSpPr/>
          <p:nvPr/>
        </p:nvSpPr>
        <p:spPr>
          <a:xfrm>
            <a:off x="609984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Shape 279"/>
          <p:cNvSpPr/>
          <p:nvPr/>
        </p:nvSpPr>
        <p:spPr>
          <a:xfrm>
            <a:off x="692676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280"/>
          <p:cNvSpPr/>
          <p:nvPr/>
        </p:nvSpPr>
        <p:spPr>
          <a:xfrm>
            <a:off x="775332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Shape 281"/>
          <p:cNvSpPr/>
          <p:nvPr/>
        </p:nvSpPr>
        <p:spPr>
          <a:xfrm>
            <a:off x="858024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Shape 282"/>
          <p:cNvSpPr/>
          <p:nvPr/>
        </p:nvSpPr>
        <p:spPr>
          <a:xfrm>
            <a:off x="940680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283"/>
          <p:cNvSpPr/>
          <p:nvPr/>
        </p:nvSpPr>
        <p:spPr>
          <a:xfrm>
            <a:off x="1023372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284"/>
          <p:cNvSpPr/>
          <p:nvPr/>
        </p:nvSpPr>
        <p:spPr>
          <a:xfrm>
            <a:off x="11060280" y="416052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285"/>
          <p:cNvSpPr/>
          <p:nvPr/>
        </p:nvSpPr>
        <p:spPr>
          <a:xfrm>
            <a:off x="7753320" y="4160520"/>
            <a:ext cx="1653120" cy="182520"/>
          </a:xfrm>
          <a:prstGeom prst="rect">
            <a:avLst/>
          </a:prstGeom>
          <a:solidFill>
            <a:srgbClr val="7b1c1c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286"/>
          <p:cNvSpPr/>
          <p:nvPr/>
        </p:nvSpPr>
        <p:spPr>
          <a:xfrm>
            <a:off x="7753320" y="4160520"/>
            <a:ext cx="1653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f9d5d5"/>
                </a:solidFill>
                <a:latin typeface="Calibri"/>
                <a:ea typeface="Calibri"/>
              </a:rPr>
              <a:t>Sprint 4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329" name="Shape 287"/>
          <p:cNvSpPr/>
          <p:nvPr/>
        </p:nvSpPr>
        <p:spPr>
          <a:xfrm>
            <a:off x="274320" y="434340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288"/>
          <p:cNvSpPr/>
          <p:nvPr/>
        </p:nvSpPr>
        <p:spPr>
          <a:xfrm>
            <a:off x="274320" y="434340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Back-end Development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31" name="Shape 289"/>
          <p:cNvSpPr/>
          <p:nvPr/>
        </p:nvSpPr>
        <p:spPr>
          <a:xfrm>
            <a:off x="196596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Shape 290"/>
          <p:cNvSpPr/>
          <p:nvPr/>
        </p:nvSpPr>
        <p:spPr>
          <a:xfrm>
            <a:off x="279288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291"/>
          <p:cNvSpPr/>
          <p:nvPr/>
        </p:nvSpPr>
        <p:spPr>
          <a:xfrm>
            <a:off x="361944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292"/>
          <p:cNvSpPr/>
          <p:nvPr/>
        </p:nvSpPr>
        <p:spPr>
          <a:xfrm>
            <a:off x="444636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Shape 293"/>
          <p:cNvSpPr/>
          <p:nvPr/>
        </p:nvSpPr>
        <p:spPr>
          <a:xfrm>
            <a:off x="527292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Shape 294"/>
          <p:cNvSpPr/>
          <p:nvPr/>
        </p:nvSpPr>
        <p:spPr>
          <a:xfrm>
            <a:off x="609984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Shape 295"/>
          <p:cNvSpPr/>
          <p:nvPr/>
        </p:nvSpPr>
        <p:spPr>
          <a:xfrm>
            <a:off x="692676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296"/>
          <p:cNvSpPr/>
          <p:nvPr/>
        </p:nvSpPr>
        <p:spPr>
          <a:xfrm>
            <a:off x="775332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297"/>
          <p:cNvSpPr/>
          <p:nvPr/>
        </p:nvSpPr>
        <p:spPr>
          <a:xfrm>
            <a:off x="858024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Shape 298"/>
          <p:cNvSpPr/>
          <p:nvPr/>
        </p:nvSpPr>
        <p:spPr>
          <a:xfrm>
            <a:off x="940680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Shape 299"/>
          <p:cNvSpPr/>
          <p:nvPr/>
        </p:nvSpPr>
        <p:spPr>
          <a:xfrm>
            <a:off x="1023372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300"/>
          <p:cNvSpPr/>
          <p:nvPr/>
        </p:nvSpPr>
        <p:spPr>
          <a:xfrm>
            <a:off x="11060280" y="43434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Shape 301"/>
          <p:cNvSpPr/>
          <p:nvPr/>
        </p:nvSpPr>
        <p:spPr>
          <a:xfrm>
            <a:off x="7771680" y="438156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Shape 302"/>
          <p:cNvSpPr/>
          <p:nvPr/>
        </p:nvSpPr>
        <p:spPr>
          <a:xfrm>
            <a:off x="8598240" y="438156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Shape 303"/>
          <p:cNvSpPr/>
          <p:nvPr/>
        </p:nvSpPr>
        <p:spPr>
          <a:xfrm>
            <a:off x="274320" y="454464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304"/>
          <p:cNvSpPr/>
          <p:nvPr/>
        </p:nvSpPr>
        <p:spPr>
          <a:xfrm>
            <a:off x="274320" y="454464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Integration Testing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47" name="Shape 305"/>
          <p:cNvSpPr/>
          <p:nvPr/>
        </p:nvSpPr>
        <p:spPr>
          <a:xfrm>
            <a:off x="196596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306"/>
          <p:cNvSpPr/>
          <p:nvPr/>
        </p:nvSpPr>
        <p:spPr>
          <a:xfrm>
            <a:off x="279288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Shape 307"/>
          <p:cNvSpPr/>
          <p:nvPr/>
        </p:nvSpPr>
        <p:spPr>
          <a:xfrm>
            <a:off x="361944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Shape 308"/>
          <p:cNvSpPr/>
          <p:nvPr/>
        </p:nvSpPr>
        <p:spPr>
          <a:xfrm>
            <a:off x="444636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Shape 309"/>
          <p:cNvSpPr/>
          <p:nvPr/>
        </p:nvSpPr>
        <p:spPr>
          <a:xfrm>
            <a:off x="527292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Shape 310"/>
          <p:cNvSpPr/>
          <p:nvPr/>
        </p:nvSpPr>
        <p:spPr>
          <a:xfrm>
            <a:off x="609984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Shape 311"/>
          <p:cNvSpPr/>
          <p:nvPr/>
        </p:nvSpPr>
        <p:spPr>
          <a:xfrm>
            <a:off x="692676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312"/>
          <p:cNvSpPr/>
          <p:nvPr/>
        </p:nvSpPr>
        <p:spPr>
          <a:xfrm>
            <a:off x="775332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Shape 313"/>
          <p:cNvSpPr/>
          <p:nvPr/>
        </p:nvSpPr>
        <p:spPr>
          <a:xfrm>
            <a:off x="858024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Shape 314"/>
          <p:cNvSpPr/>
          <p:nvPr/>
        </p:nvSpPr>
        <p:spPr>
          <a:xfrm>
            <a:off x="940680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315"/>
          <p:cNvSpPr/>
          <p:nvPr/>
        </p:nvSpPr>
        <p:spPr>
          <a:xfrm>
            <a:off x="1023372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316"/>
          <p:cNvSpPr/>
          <p:nvPr/>
        </p:nvSpPr>
        <p:spPr>
          <a:xfrm>
            <a:off x="11060280" y="454464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Shape 317"/>
          <p:cNvSpPr/>
          <p:nvPr/>
        </p:nvSpPr>
        <p:spPr>
          <a:xfrm>
            <a:off x="8598240" y="458280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318"/>
          <p:cNvSpPr/>
          <p:nvPr/>
        </p:nvSpPr>
        <p:spPr>
          <a:xfrm>
            <a:off x="274320" y="474588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319"/>
          <p:cNvSpPr/>
          <p:nvPr/>
        </p:nvSpPr>
        <p:spPr>
          <a:xfrm>
            <a:off x="274320" y="474588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 </a:t>
            </a: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Review &amp; Demo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62" name="Shape 320"/>
          <p:cNvSpPr/>
          <p:nvPr/>
        </p:nvSpPr>
        <p:spPr>
          <a:xfrm>
            <a:off x="196596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Shape 321"/>
          <p:cNvSpPr/>
          <p:nvPr/>
        </p:nvSpPr>
        <p:spPr>
          <a:xfrm>
            <a:off x="279288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Shape 322"/>
          <p:cNvSpPr/>
          <p:nvPr/>
        </p:nvSpPr>
        <p:spPr>
          <a:xfrm>
            <a:off x="361944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323"/>
          <p:cNvSpPr/>
          <p:nvPr/>
        </p:nvSpPr>
        <p:spPr>
          <a:xfrm>
            <a:off x="444636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324"/>
          <p:cNvSpPr/>
          <p:nvPr/>
        </p:nvSpPr>
        <p:spPr>
          <a:xfrm>
            <a:off x="527292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Shape 325"/>
          <p:cNvSpPr/>
          <p:nvPr/>
        </p:nvSpPr>
        <p:spPr>
          <a:xfrm>
            <a:off x="609984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Shape 326"/>
          <p:cNvSpPr/>
          <p:nvPr/>
        </p:nvSpPr>
        <p:spPr>
          <a:xfrm>
            <a:off x="692676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Shape 327"/>
          <p:cNvSpPr/>
          <p:nvPr/>
        </p:nvSpPr>
        <p:spPr>
          <a:xfrm>
            <a:off x="775332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328"/>
          <p:cNvSpPr/>
          <p:nvPr/>
        </p:nvSpPr>
        <p:spPr>
          <a:xfrm>
            <a:off x="858024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Shape 329"/>
          <p:cNvSpPr/>
          <p:nvPr/>
        </p:nvSpPr>
        <p:spPr>
          <a:xfrm>
            <a:off x="940680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Shape 330"/>
          <p:cNvSpPr/>
          <p:nvPr/>
        </p:nvSpPr>
        <p:spPr>
          <a:xfrm>
            <a:off x="1023372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Shape 331"/>
          <p:cNvSpPr/>
          <p:nvPr/>
        </p:nvSpPr>
        <p:spPr>
          <a:xfrm>
            <a:off x="11060280" y="4745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Shape 332"/>
          <p:cNvSpPr/>
          <p:nvPr/>
        </p:nvSpPr>
        <p:spPr>
          <a:xfrm>
            <a:off x="8598240" y="4784040"/>
            <a:ext cx="789840" cy="1242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333"/>
          <p:cNvSpPr/>
          <p:nvPr/>
        </p:nvSpPr>
        <p:spPr>
          <a:xfrm>
            <a:off x="274320" y="4946760"/>
            <a:ext cx="169128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User Feedback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76" name="Text 334"/>
          <p:cNvSpPr/>
          <p:nvPr/>
        </p:nvSpPr>
        <p:spPr>
          <a:xfrm>
            <a:off x="274320" y="4946760"/>
            <a:ext cx="1691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80" spc="-1" strike="noStrike">
                <a:solidFill>
                  <a:srgbClr val="d4537e"/>
                </a:solidFill>
                <a:latin typeface="Calibri"/>
                <a:ea typeface="Calibri"/>
              </a:rPr>
              <a:t>↩ </a:t>
            </a:r>
            <a:r>
              <a:rPr b="0" i="1" lang="en-US" sz="680" spc="-1" strike="noStrike">
                <a:solidFill>
                  <a:srgbClr val="d4537e"/>
                </a:solidFill>
                <a:latin typeface="Calibri"/>
                <a:ea typeface="Calibri"/>
              </a:rPr>
              <a:t>User Feedback &amp; Re-prioritise</a:t>
            </a:r>
            <a:endParaRPr b="0" lang="en-IN" sz="680" spc="-1" strike="noStrike">
              <a:latin typeface="Arial"/>
            </a:endParaRPr>
          </a:p>
        </p:txBody>
      </p:sp>
      <p:sp>
        <p:nvSpPr>
          <p:cNvPr id="377" name="Shape 335"/>
          <p:cNvSpPr/>
          <p:nvPr/>
        </p:nvSpPr>
        <p:spPr>
          <a:xfrm>
            <a:off x="196596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Shape 336"/>
          <p:cNvSpPr/>
          <p:nvPr/>
        </p:nvSpPr>
        <p:spPr>
          <a:xfrm>
            <a:off x="279288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Shape 337"/>
          <p:cNvSpPr/>
          <p:nvPr/>
        </p:nvSpPr>
        <p:spPr>
          <a:xfrm>
            <a:off x="361944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Shape 338"/>
          <p:cNvSpPr/>
          <p:nvPr/>
        </p:nvSpPr>
        <p:spPr>
          <a:xfrm>
            <a:off x="444636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Shape 339"/>
          <p:cNvSpPr/>
          <p:nvPr/>
        </p:nvSpPr>
        <p:spPr>
          <a:xfrm>
            <a:off x="527292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Shape 340"/>
          <p:cNvSpPr/>
          <p:nvPr/>
        </p:nvSpPr>
        <p:spPr>
          <a:xfrm>
            <a:off x="609984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Shape 341"/>
          <p:cNvSpPr/>
          <p:nvPr/>
        </p:nvSpPr>
        <p:spPr>
          <a:xfrm>
            <a:off x="692676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342"/>
          <p:cNvSpPr/>
          <p:nvPr/>
        </p:nvSpPr>
        <p:spPr>
          <a:xfrm>
            <a:off x="775332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343"/>
          <p:cNvSpPr/>
          <p:nvPr/>
        </p:nvSpPr>
        <p:spPr>
          <a:xfrm>
            <a:off x="858024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Shape 344"/>
          <p:cNvSpPr/>
          <p:nvPr/>
        </p:nvSpPr>
        <p:spPr>
          <a:xfrm>
            <a:off x="940680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Shape 345"/>
          <p:cNvSpPr/>
          <p:nvPr/>
        </p:nvSpPr>
        <p:spPr>
          <a:xfrm>
            <a:off x="1023372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Shape 346"/>
          <p:cNvSpPr/>
          <p:nvPr/>
        </p:nvSpPr>
        <p:spPr>
          <a:xfrm>
            <a:off x="11060280" y="4946760"/>
            <a:ext cx="826560" cy="173520"/>
          </a:xfrm>
          <a:prstGeom prst="rect">
            <a:avLst/>
          </a:prstGeom>
          <a:solidFill>
            <a:srgbClr val="fff5f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Shape 347"/>
          <p:cNvSpPr/>
          <p:nvPr/>
        </p:nvSpPr>
        <p:spPr>
          <a:xfrm>
            <a:off x="8598240" y="497988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Shape 348"/>
          <p:cNvSpPr/>
          <p:nvPr/>
        </p:nvSpPr>
        <p:spPr>
          <a:xfrm>
            <a:off x="9425160" y="4979880"/>
            <a:ext cx="789840" cy="1072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349"/>
          <p:cNvSpPr/>
          <p:nvPr/>
        </p:nvSpPr>
        <p:spPr>
          <a:xfrm>
            <a:off x="274320" y="5120640"/>
            <a:ext cx="169128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350"/>
          <p:cNvSpPr/>
          <p:nvPr/>
        </p:nvSpPr>
        <p:spPr>
          <a:xfrm>
            <a:off x="274320" y="512064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 </a:t>
            </a:r>
            <a:r>
              <a:rPr b="1" i="1" lang="en-US" sz="750" spc="-1" strike="noStrike">
                <a:solidFill>
                  <a:srgbClr val="7b1c1c"/>
                </a:solidFill>
                <a:latin typeface="Calibri"/>
                <a:ea typeface="Calibri"/>
              </a:rPr>
              <a:t>Test &amp; Deploy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93" name="Shape 351"/>
          <p:cNvSpPr/>
          <p:nvPr/>
        </p:nvSpPr>
        <p:spPr>
          <a:xfrm>
            <a:off x="196596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352"/>
          <p:cNvSpPr/>
          <p:nvPr/>
        </p:nvSpPr>
        <p:spPr>
          <a:xfrm>
            <a:off x="279288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353"/>
          <p:cNvSpPr/>
          <p:nvPr/>
        </p:nvSpPr>
        <p:spPr>
          <a:xfrm>
            <a:off x="361944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Shape 354"/>
          <p:cNvSpPr/>
          <p:nvPr/>
        </p:nvSpPr>
        <p:spPr>
          <a:xfrm>
            <a:off x="444636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355"/>
          <p:cNvSpPr/>
          <p:nvPr/>
        </p:nvSpPr>
        <p:spPr>
          <a:xfrm>
            <a:off x="527292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356"/>
          <p:cNvSpPr/>
          <p:nvPr/>
        </p:nvSpPr>
        <p:spPr>
          <a:xfrm>
            <a:off x="609984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Shape 357"/>
          <p:cNvSpPr/>
          <p:nvPr/>
        </p:nvSpPr>
        <p:spPr>
          <a:xfrm>
            <a:off x="692676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Shape 358"/>
          <p:cNvSpPr/>
          <p:nvPr/>
        </p:nvSpPr>
        <p:spPr>
          <a:xfrm>
            <a:off x="775332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Shape 359"/>
          <p:cNvSpPr/>
          <p:nvPr/>
        </p:nvSpPr>
        <p:spPr>
          <a:xfrm>
            <a:off x="858024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360"/>
          <p:cNvSpPr/>
          <p:nvPr/>
        </p:nvSpPr>
        <p:spPr>
          <a:xfrm>
            <a:off x="940680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Shape 361"/>
          <p:cNvSpPr/>
          <p:nvPr/>
        </p:nvSpPr>
        <p:spPr>
          <a:xfrm>
            <a:off x="1023372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Shape 362"/>
          <p:cNvSpPr/>
          <p:nvPr/>
        </p:nvSpPr>
        <p:spPr>
          <a:xfrm>
            <a:off x="11060280" y="5120640"/>
            <a:ext cx="826560" cy="182520"/>
          </a:xfrm>
          <a:prstGeom prst="rect">
            <a:avLst/>
          </a:prstGeom>
          <a:solidFill>
            <a:srgbClr val="f9d5d5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363"/>
          <p:cNvSpPr/>
          <p:nvPr/>
        </p:nvSpPr>
        <p:spPr>
          <a:xfrm>
            <a:off x="9406800" y="5120640"/>
            <a:ext cx="1653120" cy="182520"/>
          </a:xfrm>
          <a:prstGeom prst="rect">
            <a:avLst/>
          </a:prstGeom>
          <a:solidFill>
            <a:srgbClr val="7b1c1c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364"/>
          <p:cNvSpPr/>
          <p:nvPr/>
        </p:nvSpPr>
        <p:spPr>
          <a:xfrm>
            <a:off x="9406800" y="5120640"/>
            <a:ext cx="1653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f9d5d5"/>
                </a:solidFill>
                <a:latin typeface="Calibri"/>
                <a:ea typeface="Calibri"/>
              </a:rPr>
              <a:t>Sprint 5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407" name="Shape 365"/>
          <p:cNvSpPr/>
          <p:nvPr/>
        </p:nvSpPr>
        <p:spPr>
          <a:xfrm>
            <a:off x="274320" y="530352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366"/>
          <p:cNvSpPr/>
          <p:nvPr/>
        </p:nvSpPr>
        <p:spPr>
          <a:xfrm>
            <a:off x="274320" y="530352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System / UAT Testing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09" name="Shape 367"/>
          <p:cNvSpPr/>
          <p:nvPr/>
        </p:nvSpPr>
        <p:spPr>
          <a:xfrm>
            <a:off x="196596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Shape 368"/>
          <p:cNvSpPr/>
          <p:nvPr/>
        </p:nvSpPr>
        <p:spPr>
          <a:xfrm>
            <a:off x="279288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Shape 369"/>
          <p:cNvSpPr/>
          <p:nvPr/>
        </p:nvSpPr>
        <p:spPr>
          <a:xfrm>
            <a:off x="361944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Shape 370"/>
          <p:cNvSpPr/>
          <p:nvPr/>
        </p:nvSpPr>
        <p:spPr>
          <a:xfrm>
            <a:off x="444636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Shape 371"/>
          <p:cNvSpPr/>
          <p:nvPr/>
        </p:nvSpPr>
        <p:spPr>
          <a:xfrm>
            <a:off x="527292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Shape 372"/>
          <p:cNvSpPr/>
          <p:nvPr/>
        </p:nvSpPr>
        <p:spPr>
          <a:xfrm>
            <a:off x="609984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Shape 373"/>
          <p:cNvSpPr/>
          <p:nvPr/>
        </p:nvSpPr>
        <p:spPr>
          <a:xfrm>
            <a:off x="692676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Shape 374"/>
          <p:cNvSpPr/>
          <p:nvPr/>
        </p:nvSpPr>
        <p:spPr>
          <a:xfrm>
            <a:off x="775332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375"/>
          <p:cNvSpPr/>
          <p:nvPr/>
        </p:nvSpPr>
        <p:spPr>
          <a:xfrm>
            <a:off x="858024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Shape 376"/>
          <p:cNvSpPr/>
          <p:nvPr/>
        </p:nvSpPr>
        <p:spPr>
          <a:xfrm>
            <a:off x="940680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Shape 377"/>
          <p:cNvSpPr/>
          <p:nvPr/>
        </p:nvSpPr>
        <p:spPr>
          <a:xfrm>
            <a:off x="1023372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Shape 378"/>
          <p:cNvSpPr/>
          <p:nvPr/>
        </p:nvSpPr>
        <p:spPr>
          <a:xfrm>
            <a:off x="11060280" y="530352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Shape 379"/>
          <p:cNvSpPr/>
          <p:nvPr/>
        </p:nvSpPr>
        <p:spPr>
          <a:xfrm>
            <a:off x="9425160" y="534168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Shape 380"/>
          <p:cNvSpPr/>
          <p:nvPr/>
        </p:nvSpPr>
        <p:spPr>
          <a:xfrm>
            <a:off x="10252080" y="534168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381"/>
          <p:cNvSpPr/>
          <p:nvPr/>
        </p:nvSpPr>
        <p:spPr>
          <a:xfrm>
            <a:off x="274320" y="550476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382"/>
          <p:cNvSpPr/>
          <p:nvPr/>
        </p:nvSpPr>
        <p:spPr>
          <a:xfrm>
            <a:off x="274320" y="550476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Bug Fixes &amp; Refinement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25" name="Shape 383"/>
          <p:cNvSpPr/>
          <p:nvPr/>
        </p:nvSpPr>
        <p:spPr>
          <a:xfrm>
            <a:off x="196596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384"/>
          <p:cNvSpPr/>
          <p:nvPr/>
        </p:nvSpPr>
        <p:spPr>
          <a:xfrm>
            <a:off x="279288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Shape 385"/>
          <p:cNvSpPr/>
          <p:nvPr/>
        </p:nvSpPr>
        <p:spPr>
          <a:xfrm>
            <a:off x="361944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Shape 386"/>
          <p:cNvSpPr/>
          <p:nvPr/>
        </p:nvSpPr>
        <p:spPr>
          <a:xfrm>
            <a:off x="444636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87"/>
          <p:cNvSpPr/>
          <p:nvPr/>
        </p:nvSpPr>
        <p:spPr>
          <a:xfrm>
            <a:off x="527292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Shape 388"/>
          <p:cNvSpPr/>
          <p:nvPr/>
        </p:nvSpPr>
        <p:spPr>
          <a:xfrm>
            <a:off x="609984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Shape 389"/>
          <p:cNvSpPr/>
          <p:nvPr/>
        </p:nvSpPr>
        <p:spPr>
          <a:xfrm>
            <a:off x="692676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Shape 390"/>
          <p:cNvSpPr/>
          <p:nvPr/>
        </p:nvSpPr>
        <p:spPr>
          <a:xfrm>
            <a:off x="775332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Shape 391"/>
          <p:cNvSpPr/>
          <p:nvPr/>
        </p:nvSpPr>
        <p:spPr>
          <a:xfrm>
            <a:off x="858024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Shape 392"/>
          <p:cNvSpPr/>
          <p:nvPr/>
        </p:nvSpPr>
        <p:spPr>
          <a:xfrm>
            <a:off x="940680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393"/>
          <p:cNvSpPr/>
          <p:nvPr/>
        </p:nvSpPr>
        <p:spPr>
          <a:xfrm>
            <a:off x="1023372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Shape 394"/>
          <p:cNvSpPr/>
          <p:nvPr/>
        </p:nvSpPr>
        <p:spPr>
          <a:xfrm>
            <a:off x="11060280" y="550476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Shape 395"/>
          <p:cNvSpPr/>
          <p:nvPr/>
        </p:nvSpPr>
        <p:spPr>
          <a:xfrm>
            <a:off x="10252080" y="554292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Shape 396"/>
          <p:cNvSpPr/>
          <p:nvPr/>
        </p:nvSpPr>
        <p:spPr>
          <a:xfrm>
            <a:off x="274320" y="570600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Text 397"/>
          <p:cNvSpPr/>
          <p:nvPr/>
        </p:nvSpPr>
        <p:spPr>
          <a:xfrm>
            <a:off x="274320" y="570600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Deployment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40" name="Shape 398"/>
          <p:cNvSpPr/>
          <p:nvPr/>
        </p:nvSpPr>
        <p:spPr>
          <a:xfrm>
            <a:off x="196596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399"/>
          <p:cNvSpPr/>
          <p:nvPr/>
        </p:nvSpPr>
        <p:spPr>
          <a:xfrm>
            <a:off x="279288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Shape 400"/>
          <p:cNvSpPr/>
          <p:nvPr/>
        </p:nvSpPr>
        <p:spPr>
          <a:xfrm>
            <a:off x="361944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Shape 401"/>
          <p:cNvSpPr/>
          <p:nvPr/>
        </p:nvSpPr>
        <p:spPr>
          <a:xfrm>
            <a:off x="444636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Shape 402"/>
          <p:cNvSpPr/>
          <p:nvPr/>
        </p:nvSpPr>
        <p:spPr>
          <a:xfrm>
            <a:off x="527292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Shape 403"/>
          <p:cNvSpPr/>
          <p:nvPr/>
        </p:nvSpPr>
        <p:spPr>
          <a:xfrm>
            <a:off x="609984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Shape 404"/>
          <p:cNvSpPr/>
          <p:nvPr/>
        </p:nvSpPr>
        <p:spPr>
          <a:xfrm>
            <a:off x="692676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Shape 405"/>
          <p:cNvSpPr/>
          <p:nvPr/>
        </p:nvSpPr>
        <p:spPr>
          <a:xfrm>
            <a:off x="775332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Shape 406"/>
          <p:cNvSpPr/>
          <p:nvPr/>
        </p:nvSpPr>
        <p:spPr>
          <a:xfrm>
            <a:off x="858024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407"/>
          <p:cNvSpPr/>
          <p:nvPr/>
        </p:nvSpPr>
        <p:spPr>
          <a:xfrm>
            <a:off x="940680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Shape 408"/>
          <p:cNvSpPr/>
          <p:nvPr/>
        </p:nvSpPr>
        <p:spPr>
          <a:xfrm>
            <a:off x="1023372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Shape 409"/>
          <p:cNvSpPr/>
          <p:nvPr/>
        </p:nvSpPr>
        <p:spPr>
          <a:xfrm>
            <a:off x="11060280" y="570600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Shape 410"/>
          <p:cNvSpPr/>
          <p:nvPr/>
        </p:nvSpPr>
        <p:spPr>
          <a:xfrm>
            <a:off x="10252080" y="574416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Shape 411"/>
          <p:cNvSpPr/>
          <p:nvPr/>
        </p:nvSpPr>
        <p:spPr>
          <a:xfrm>
            <a:off x="11078640" y="5744160"/>
            <a:ext cx="789840" cy="124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Shape 412"/>
          <p:cNvSpPr/>
          <p:nvPr/>
        </p:nvSpPr>
        <p:spPr>
          <a:xfrm>
            <a:off x="274320" y="5906880"/>
            <a:ext cx="169128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413"/>
          <p:cNvSpPr/>
          <p:nvPr/>
        </p:nvSpPr>
        <p:spPr>
          <a:xfrm>
            <a:off x="274320" y="590688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1a1a2e"/>
                </a:solidFill>
                <a:latin typeface="Calibri"/>
                <a:ea typeface="Calibri"/>
              </a:rPr>
              <a:t>Final Review &amp; Retrospective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56" name="Shape 414"/>
          <p:cNvSpPr/>
          <p:nvPr/>
        </p:nvSpPr>
        <p:spPr>
          <a:xfrm>
            <a:off x="196596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Shape 415"/>
          <p:cNvSpPr/>
          <p:nvPr/>
        </p:nvSpPr>
        <p:spPr>
          <a:xfrm>
            <a:off x="279288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416"/>
          <p:cNvSpPr/>
          <p:nvPr/>
        </p:nvSpPr>
        <p:spPr>
          <a:xfrm>
            <a:off x="361944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Shape 417"/>
          <p:cNvSpPr/>
          <p:nvPr/>
        </p:nvSpPr>
        <p:spPr>
          <a:xfrm>
            <a:off x="444636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Shape 418"/>
          <p:cNvSpPr/>
          <p:nvPr/>
        </p:nvSpPr>
        <p:spPr>
          <a:xfrm>
            <a:off x="527292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Shape 419"/>
          <p:cNvSpPr/>
          <p:nvPr/>
        </p:nvSpPr>
        <p:spPr>
          <a:xfrm>
            <a:off x="609984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420"/>
          <p:cNvSpPr/>
          <p:nvPr/>
        </p:nvSpPr>
        <p:spPr>
          <a:xfrm>
            <a:off x="692676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Shape 421"/>
          <p:cNvSpPr/>
          <p:nvPr/>
        </p:nvSpPr>
        <p:spPr>
          <a:xfrm>
            <a:off x="775332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Shape 422"/>
          <p:cNvSpPr/>
          <p:nvPr/>
        </p:nvSpPr>
        <p:spPr>
          <a:xfrm>
            <a:off x="858024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Shape 423"/>
          <p:cNvSpPr/>
          <p:nvPr/>
        </p:nvSpPr>
        <p:spPr>
          <a:xfrm>
            <a:off x="940680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424"/>
          <p:cNvSpPr/>
          <p:nvPr/>
        </p:nvSpPr>
        <p:spPr>
          <a:xfrm>
            <a:off x="1023372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Shape 425"/>
          <p:cNvSpPr/>
          <p:nvPr/>
        </p:nvSpPr>
        <p:spPr>
          <a:xfrm>
            <a:off x="11060280" y="5906880"/>
            <a:ext cx="826560" cy="200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Shape 426"/>
          <p:cNvSpPr/>
          <p:nvPr/>
        </p:nvSpPr>
        <p:spPr>
          <a:xfrm>
            <a:off x="11078640" y="5945400"/>
            <a:ext cx="789840" cy="1242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427"/>
          <p:cNvSpPr/>
          <p:nvPr/>
        </p:nvSpPr>
        <p:spPr>
          <a:xfrm>
            <a:off x="274320" y="62179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7b1c1c"/>
                </a:solidFill>
                <a:latin typeface="Calibri"/>
                <a:ea typeface="Calibri"/>
              </a:rPr>
              <a:t>Legend: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70" name="Shape 428"/>
          <p:cNvSpPr/>
          <p:nvPr/>
        </p:nvSpPr>
        <p:spPr>
          <a:xfrm>
            <a:off x="1234440" y="6254640"/>
            <a:ext cx="200880" cy="1278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429"/>
          <p:cNvSpPr/>
          <p:nvPr/>
        </p:nvSpPr>
        <p:spPr>
          <a:xfrm>
            <a:off x="1472040" y="62179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5a1a1a"/>
                </a:solidFill>
                <a:latin typeface="Calibri"/>
                <a:ea typeface="Calibri"/>
              </a:rPr>
              <a:t> </a:t>
            </a:r>
            <a:r>
              <a:rPr b="0" lang="en-US" sz="750" spc="-1" strike="noStrike">
                <a:solidFill>
                  <a:srgbClr val="5a1a1a"/>
                </a:solidFill>
                <a:latin typeface="Calibri"/>
                <a:ea typeface="Calibri"/>
              </a:rPr>
              <a:t>tasks (development work)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72" name="Shape 430"/>
          <p:cNvSpPr/>
          <p:nvPr/>
        </p:nvSpPr>
        <p:spPr>
          <a:xfrm>
            <a:off x="4480560" y="6254640"/>
            <a:ext cx="200880" cy="1278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431"/>
          <p:cNvSpPr/>
          <p:nvPr/>
        </p:nvSpPr>
        <p:spPr>
          <a:xfrm>
            <a:off x="4718160" y="62179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5a1a1a"/>
                </a:solidFill>
                <a:latin typeface="Calibri"/>
                <a:ea typeface="Calibri"/>
              </a:rPr>
              <a:t>review &amp; demo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74" name="Shape 432"/>
          <p:cNvSpPr/>
          <p:nvPr/>
        </p:nvSpPr>
        <p:spPr>
          <a:xfrm>
            <a:off x="7726680" y="6254640"/>
            <a:ext cx="200880" cy="12780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433"/>
          <p:cNvSpPr/>
          <p:nvPr/>
        </p:nvSpPr>
        <p:spPr>
          <a:xfrm>
            <a:off x="7964280" y="62179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5a1a1a"/>
                </a:solidFill>
                <a:latin typeface="Calibri"/>
                <a:ea typeface="Calibri"/>
              </a:rPr>
              <a:t>User feedback 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76" name="Text 434"/>
          <p:cNvSpPr/>
          <p:nvPr/>
        </p:nvSpPr>
        <p:spPr>
          <a:xfrm>
            <a:off x="274320" y="6473880"/>
            <a:ext cx="1161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7b1c1c"/>
                </a:solidFill>
                <a:latin typeface="Calibri"/>
                <a:ea typeface="Calibri"/>
              </a:rPr>
              <a:t>Agile model: After every Sprint Review, users/stakeholders provide feedback. The team refines the backlog and improves the product in the next sprint.</a:t>
            </a:r>
            <a:endParaRPr b="0" lang="en-IN" sz="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2026-05-17T11:22:00Z</dcterms:created>
  <dc:creator>PptxGenJS</dc:creator>
  <dc:description/>
  <dc:language>en-IN</dc:language>
  <cp:lastModifiedBy/>
  <dcterms:modified xsi:type="dcterms:W3CDTF">2026-05-17T17:08:13Z</dcterms:modified>
  <cp:revision>2</cp:revision>
  <dc:subject>PptxGenJS Presentation</dc:subject>
  <dc:title>StructaFlow Agile Gantt Chart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